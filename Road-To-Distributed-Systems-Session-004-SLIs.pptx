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61" r:id="rId6"/>
    <p:sldId id="273" r:id="rId7"/>
    <p:sldId id="274" r:id="rId8"/>
    <p:sldId id="266" r:id="rId9"/>
    <p:sldId id="279" r:id="rId10"/>
    <p:sldId id="283" r:id="rId11"/>
    <p:sldId id="262" r:id="rId12"/>
    <p:sldId id="284" r:id="rId13"/>
    <p:sldId id="269" r:id="rId14"/>
    <p:sldId id="281" r:id="rId15"/>
    <p:sldId id="285" r:id="rId16"/>
    <p:sldId id="282" r:id="rId17"/>
    <p:sldId id="286" r:id="rId18"/>
    <p:sldId id="287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39A1BA-0511-4B1E-9970-6F52B45ABA7D}" name="Lauter, Mark" initials="LM" userId="Lauter, Mark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19" autoAdjust="0"/>
  </p:normalViewPr>
  <p:slideViewPr>
    <p:cSldViewPr snapToGrid="0">
      <p:cViewPr varScale="1">
        <p:scale>
          <a:sx n="108" d="100"/>
          <a:sy n="108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03 May 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The road to 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session 4: System Reliability engineering – transform observability into Service level indicators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DE869-DFF1-9534-A86E-FC41AA02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4708-B6ED-D31F-1225-63FD3060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Session 3 Review</a:t>
            </a:r>
          </a:p>
          <a:p>
            <a:r>
              <a:rPr lang="en-US" dirty="0">
                <a:solidFill>
                  <a:srgbClr val="FFFFFF"/>
                </a:solidFill>
              </a:rPr>
              <a:t>Service Level Indicators</a:t>
            </a:r>
          </a:p>
          <a:p>
            <a:r>
              <a:rPr lang="en-US" dirty="0">
                <a:solidFill>
                  <a:srgbClr val="FFFFFF"/>
                </a:solidFill>
              </a:rPr>
              <a:t>Service Level Objectives</a:t>
            </a:r>
          </a:p>
          <a:p>
            <a:r>
              <a:rPr lang="en-US" dirty="0">
                <a:solidFill>
                  <a:srgbClr val="FFFFFF"/>
                </a:solidFill>
              </a:rPr>
              <a:t>Service Level Agreements</a:t>
            </a:r>
          </a:p>
          <a:p>
            <a:r>
              <a:rPr lang="en-US" dirty="0">
                <a:solidFill>
                  <a:srgbClr val="FFFFFF"/>
                </a:solidFill>
              </a:rPr>
              <a:t>Intro to Monitoring</a:t>
            </a:r>
          </a:p>
          <a:p>
            <a:r>
              <a:rPr lang="en-US" dirty="0">
                <a:solidFill>
                  <a:srgbClr val="FFFFFF"/>
                </a:solidFill>
              </a:rPr>
              <a:t>Next session: ???</a:t>
            </a:r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22BB4164-E533-C150-2DAD-3AA2100AA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830" y="936141"/>
            <a:ext cx="4968305" cy="49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04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SRE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systems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Reliability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Engineering</a:t>
            </a:r>
            <a:endParaRPr lang="en-US" sz="6000" b="0" kern="1200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cap="all" dirty="0">
                <a:solidFill>
                  <a:srgbClr val="FFFFFF"/>
                </a:solidFill>
              </a:rPr>
              <a:t>observability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incident detection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incident resolution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incident prevention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466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four golden signals of systems monitoring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cap="all" dirty="0">
                <a:solidFill>
                  <a:srgbClr val="FFFFFF"/>
                </a:solidFill>
              </a:rPr>
              <a:t>latency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traffic volume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error rate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saturation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5768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Logging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cap="all" dirty="0">
                <a:solidFill>
                  <a:srgbClr val="FFFFFF"/>
                </a:solidFill>
              </a:rPr>
              <a:t>emission and recording of events that describe the behavior of the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1453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6" name="Graphic 25" descr="Questions">
            <a:extLst>
              <a:ext uri="{FF2B5EF4-FFF2-40B4-BE49-F238E27FC236}">
                <a16:creationId xmlns:a16="http://schemas.microsoft.com/office/drawing/2014/main" id="{FC1163E9-BA07-BBCA-BFD6-0C5483912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7825" y="1271941"/>
            <a:ext cx="4674322" cy="467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3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level indicators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6000" b="0" kern="1200" cap="all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sli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cap="all" dirty="0">
                <a:solidFill>
                  <a:srgbClr val="FFFFFF"/>
                </a:solidFill>
              </a:rPr>
              <a:t>quantitative measure of the performance or reliability of a 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7936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6" y="1066800"/>
            <a:ext cx="6350545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indicators expressed as a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the # of requests within the bounds of the desired range divided by the total # of requests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1143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6" y="1066800"/>
            <a:ext cx="6350545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what to measure?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the four golden signals!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4684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 err="1">
                <a:solidFill>
                  <a:srgbClr val="FFFFFF">
                    <a:alpha val="90000"/>
                  </a:srgbClr>
                </a:solidFill>
              </a:rPr>
              <a:t>sli</a:t>
            </a:r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 examples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r>
              <a:rPr lang="en-US" sz="2800" cap="all" dirty="0">
                <a:solidFill>
                  <a:srgbClr val="FFFFFF"/>
                </a:solidFill>
              </a:rPr>
              <a:t>% requests served within accepted duration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% requests resulting in success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% requests not resulting in timeout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processing rate (requests / time)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capacity utilization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52510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level objectives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6000" b="0" kern="1200" cap="all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slo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cap="all" dirty="0">
                <a:solidFill>
                  <a:srgbClr val="FFFFFF"/>
                </a:solidFill>
              </a:rPr>
              <a:t>target service level indicators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9677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how to set targets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800" cap="all" dirty="0">
                <a:solidFill>
                  <a:srgbClr val="FFFFFF"/>
                </a:solidFill>
              </a:rPr>
              <a:t>user expectations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business requirements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resource constraints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industry standards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historical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6371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level agreements (</a:t>
            </a:r>
            <a:r>
              <a:rPr lang="en-US" sz="6000" b="0" kern="1200" cap="all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sla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cap="all" dirty="0">
                <a:solidFill>
                  <a:srgbClr val="FFFFFF"/>
                </a:solidFill>
              </a:rPr>
              <a:t>a contract between a service provider and it’s users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8791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the contract definition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cap="all" dirty="0">
                <a:solidFill>
                  <a:srgbClr val="FFFFFF"/>
                </a:solidFill>
              </a:rPr>
              <a:t>service description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service levels (</a:t>
            </a:r>
            <a:r>
              <a:rPr lang="en-US" sz="2800" cap="all">
                <a:solidFill>
                  <a:srgbClr val="FFFFFF"/>
                </a:solidFill>
              </a:rPr>
              <a:t>slOs)</a:t>
            </a:r>
            <a:endParaRPr lang="en-US" sz="2800" cap="all" dirty="0">
              <a:solidFill>
                <a:srgbClr val="FFFFFF"/>
              </a:solidFill>
            </a:endParaRPr>
          </a:p>
          <a:p>
            <a:r>
              <a:rPr lang="en-US" sz="2800" cap="all" dirty="0">
                <a:solidFill>
                  <a:srgbClr val="FFFFFF"/>
                </a:solidFill>
              </a:rPr>
              <a:t>remedies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responsibilities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reporting and monitoring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11441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cap="all" dirty="0">
                <a:solidFill>
                  <a:srgbClr val="FFFFFF"/>
                </a:solidFill>
              </a:rPr>
              <a:t>transformation of logs into meaningful projections such as charts, status pages, dashboards, and alerts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75735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6" name="Graphic 25" descr="Questions">
            <a:extLst>
              <a:ext uri="{FF2B5EF4-FFF2-40B4-BE49-F238E27FC236}">
                <a16:creationId xmlns:a16="http://schemas.microsoft.com/office/drawing/2014/main" id="{FC1163E9-BA07-BBCA-BFD6-0C5483912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7825" y="1271941"/>
            <a:ext cx="4674322" cy="467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1230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956267e-7d50-46d0-9b27-8f911a5b38f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744</TotalTime>
  <Words>227</Words>
  <Application>Microsoft Office PowerPoint</Application>
  <PresentationFormat>Widescreen</PresentationFormat>
  <Paragraphs>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Franklin Gothic Book</vt:lpstr>
      <vt:lpstr>Franklin Gothic Demi</vt:lpstr>
      <vt:lpstr>Wingdings 2</vt:lpstr>
      <vt:lpstr>DividendVTI</vt:lpstr>
      <vt:lpstr>The road to distributed systems</vt:lpstr>
      <vt:lpstr>Agenda</vt:lpstr>
      <vt:lpstr>SRE systems Reliability Engineering</vt:lpstr>
      <vt:lpstr>four golden signals of systems monitoring</vt:lpstr>
      <vt:lpstr>Logging</vt:lpstr>
      <vt:lpstr>PowerPoint Presentation</vt:lpstr>
      <vt:lpstr>Service level indicators (sli)</vt:lpstr>
      <vt:lpstr>indicators expressed as a ratio</vt:lpstr>
      <vt:lpstr>what to measure?</vt:lpstr>
      <vt:lpstr>sli examples</vt:lpstr>
      <vt:lpstr>Service level objectives (slo)</vt:lpstr>
      <vt:lpstr>how to set targets</vt:lpstr>
      <vt:lpstr>Service level agreements (sla)</vt:lpstr>
      <vt:lpstr>the contract definition</vt:lpstr>
      <vt:lpstr>Monitoring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Lauter, Mark</dc:creator>
  <cp:lastModifiedBy>Lauter, Mark</cp:lastModifiedBy>
  <cp:revision>21</cp:revision>
  <dcterms:created xsi:type="dcterms:W3CDTF">2023-01-11T15:26:05Z</dcterms:created>
  <dcterms:modified xsi:type="dcterms:W3CDTF">2023-05-03T20:55:57Z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