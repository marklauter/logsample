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61" r:id="rId6"/>
    <p:sldId id="273" r:id="rId7"/>
    <p:sldId id="262" r:id="rId8"/>
    <p:sldId id="276" r:id="rId9"/>
    <p:sldId id="277" r:id="rId10"/>
    <p:sldId id="278" r:id="rId11"/>
    <p:sldId id="274" r:id="rId12"/>
    <p:sldId id="275" r:id="rId13"/>
    <p:sldId id="263" r:id="rId14"/>
    <p:sldId id="264" r:id="rId15"/>
    <p:sldId id="265" r:id="rId16"/>
    <p:sldId id="266" r:id="rId17"/>
    <p:sldId id="268" r:id="rId18"/>
    <p:sldId id="269" r:id="rId19"/>
    <p:sldId id="272" r:id="rId20"/>
    <p:sldId id="270" r:id="rId21"/>
    <p:sldId id="271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939A1BA-0511-4B1E-9970-6F52B45ABA7D}" name="Lauter, Mark" initials="LM" userId="Lauter, Mark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6" autoAdjust="0"/>
    <p:restoredTop sz="94619" autoAdjust="0"/>
  </p:normalViewPr>
  <p:slideViewPr>
    <p:cSldViewPr snapToGrid="0">
      <p:cViewPr varScale="1">
        <p:scale>
          <a:sx n="148" d="100"/>
          <a:sy n="148" d="100"/>
        </p:scale>
        <p:origin x="90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01 Mar 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01 Mar 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01 Mar 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01 Mar 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01 Mar 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01 Mar 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01 Mar 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01 Mar 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01 Mar 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01 Mar 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01 Mar 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01 Mar 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The road to distributed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r>
              <a:rPr lang="en-US" dirty="0"/>
              <a:t>session 3: System Reliability engineering – observability and monitoring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DDE869-DFF1-9534-A86E-FC41AA02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4708-B6ED-D31F-1225-63FD3060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Review Session 2</a:t>
            </a:r>
          </a:p>
          <a:p>
            <a:r>
              <a:rPr lang="en-US" dirty="0">
                <a:solidFill>
                  <a:srgbClr val="FFFFFF"/>
                </a:solidFill>
              </a:rPr>
              <a:t>Intro to SRE</a:t>
            </a:r>
          </a:p>
          <a:p>
            <a:r>
              <a:rPr lang="en-US" dirty="0">
                <a:solidFill>
                  <a:srgbClr val="FFFFFF"/>
                </a:solidFill>
              </a:rPr>
              <a:t>Four Golden Signals</a:t>
            </a:r>
          </a:p>
          <a:p>
            <a:r>
              <a:rPr lang="en-US" dirty="0">
                <a:solidFill>
                  <a:srgbClr val="FFFFFF"/>
                </a:solidFill>
              </a:rPr>
              <a:t>Logging</a:t>
            </a:r>
          </a:p>
          <a:p>
            <a:r>
              <a:rPr lang="en-US" dirty="0">
                <a:solidFill>
                  <a:srgbClr val="FFFFFF"/>
                </a:solidFill>
              </a:rPr>
              <a:t>Q&amp;A</a:t>
            </a:r>
          </a:p>
          <a:p>
            <a:r>
              <a:rPr lang="en-US" dirty="0">
                <a:solidFill>
                  <a:srgbClr val="FFFFFF"/>
                </a:solidFill>
              </a:rPr>
              <a:t>Next week: Tying these ideas together with Log Aggregators and Dashboards to enable Systems Monitoring</a:t>
            </a:r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22BB4164-E533-C150-2DAD-3AA2100AA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3830" y="936141"/>
            <a:ext cx="4968305" cy="496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04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D456B-D410-4B9A-B4A8-32858C525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924C7-80D4-2417-6CE7-A3777059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09398"/>
            <a:ext cx="6400798" cy="45861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SRE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systems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Reliability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Engineering</a:t>
            </a:r>
            <a:endParaRPr lang="en-US" sz="6000" b="0" kern="1200" cap="all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967BFE-D591-4422-9648-EC369FB5D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0" y="457201"/>
            <a:ext cx="6400800" cy="94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582E51-231C-453B-87BB-1DBCED8CF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BEFF-919F-D060-7341-527CFA05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808" y="1005841"/>
            <a:ext cx="3749040" cy="45897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cap="all" dirty="0">
                <a:solidFill>
                  <a:srgbClr val="FFFFFF"/>
                </a:solidFill>
              </a:rPr>
              <a:t>observability</a:t>
            </a:r>
          </a:p>
          <a:p>
            <a:r>
              <a:rPr lang="en-US" sz="3200" cap="all" dirty="0">
                <a:solidFill>
                  <a:srgbClr val="FFFFFF"/>
                </a:solidFill>
              </a:rPr>
              <a:t>incident detection</a:t>
            </a:r>
          </a:p>
          <a:p>
            <a:r>
              <a:rPr lang="en-US" sz="3200" cap="all" dirty="0">
                <a:solidFill>
                  <a:srgbClr val="FFFFFF"/>
                </a:solidFill>
              </a:rPr>
              <a:t>incident resolution</a:t>
            </a:r>
          </a:p>
          <a:p>
            <a:r>
              <a:rPr lang="en-US" sz="3200" cap="all" dirty="0">
                <a:solidFill>
                  <a:srgbClr val="FFFFFF"/>
                </a:solidFill>
              </a:rPr>
              <a:t>incident prevention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6F700B-68A4-40BC-B2C6-BD6385C5E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8808" y="455422"/>
            <a:ext cx="3749040" cy="94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1466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86" y="1066800"/>
            <a:ext cx="6350545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0" kern="1200" cap="all" dirty="0">
                <a:solidFill>
                  <a:srgbClr val="FFFFFF">
                    <a:alpha val="90000"/>
                  </a:srgbClr>
                </a:solidFill>
                <a:latin typeface="+mj-lt"/>
                <a:ea typeface="+mj-ea"/>
                <a:cs typeface="+mj-cs"/>
              </a:rPr>
              <a:t>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cap="all" dirty="0">
                <a:solidFill>
                  <a:srgbClr val="FFFFFF"/>
                </a:solidFill>
              </a:rPr>
              <a:t>ability to monitor and measure system behavior for the purpose of continuous improvement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71143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86" y="1066800"/>
            <a:ext cx="6350545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dirty="0">
                <a:solidFill>
                  <a:srgbClr val="FFFFFF">
                    <a:alpha val="90000"/>
                  </a:srgbClr>
                </a:solidFill>
              </a:rPr>
              <a:t>incident</a:t>
            </a:r>
            <a:br>
              <a:rPr lang="en-US" sz="6600" dirty="0">
                <a:solidFill>
                  <a:srgbClr val="FFFFFF">
                    <a:alpha val="90000"/>
                  </a:srgbClr>
                </a:solidFill>
              </a:rPr>
            </a:br>
            <a:r>
              <a:rPr lang="en-US" sz="6600" dirty="0">
                <a:solidFill>
                  <a:srgbClr val="FFFFFF">
                    <a:alpha val="90000"/>
                  </a:srgbClr>
                </a:solidFill>
              </a:rPr>
              <a:t>detection</a:t>
            </a:r>
            <a:endParaRPr lang="en-US" sz="6600" b="0" kern="1200" cap="all" dirty="0">
              <a:solidFill>
                <a:srgbClr val="FFFFFF">
                  <a:alpha val="90000"/>
                </a:srgb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cap="all" dirty="0">
                <a:solidFill>
                  <a:srgbClr val="FFFFFF"/>
                </a:solidFill>
              </a:rPr>
              <a:t>identify problems via monitoring and alerting services before they are reported by customers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245944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86" y="1066800"/>
            <a:ext cx="6350545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dirty="0">
                <a:solidFill>
                  <a:srgbClr val="FFFFFF">
                    <a:alpha val="90000"/>
                  </a:srgbClr>
                </a:solidFill>
              </a:rPr>
              <a:t>incident</a:t>
            </a:r>
            <a:br>
              <a:rPr lang="en-US" sz="6600" dirty="0">
                <a:solidFill>
                  <a:srgbClr val="FFFFFF">
                    <a:alpha val="90000"/>
                  </a:srgbClr>
                </a:solidFill>
              </a:rPr>
            </a:br>
            <a:r>
              <a:rPr lang="en-US" sz="6600" dirty="0">
                <a:solidFill>
                  <a:srgbClr val="FFFFFF">
                    <a:alpha val="90000"/>
                  </a:srgbClr>
                </a:solidFill>
              </a:rPr>
              <a:t>resolution</a:t>
            </a:r>
            <a:endParaRPr lang="en-US" sz="6600" b="0" kern="1200" cap="all" dirty="0">
              <a:solidFill>
                <a:srgbClr val="FFFFFF">
                  <a:alpha val="90000"/>
                </a:srgb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cap="all" dirty="0">
                <a:solidFill>
                  <a:srgbClr val="FFFFFF"/>
                </a:solidFill>
              </a:rPr>
              <a:t>use logs to quickly locate the source of malfunctions so they can be fixed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46975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86" y="1066800"/>
            <a:ext cx="6350545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dirty="0">
                <a:solidFill>
                  <a:srgbClr val="FFFFFF">
                    <a:alpha val="90000"/>
                  </a:srgbClr>
                </a:solidFill>
              </a:rPr>
              <a:t>incident</a:t>
            </a:r>
            <a:br>
              <a:rPr lang="en-US" sz="6600" dirty="0">
                <a:solidFill>
                  <a:srgbClr val="FFFFFF">
                    <a:alpha val="90000"/>
                  </a:srgbClr>
                </a:solidFill>
              </a:rPr>
            </a:br>
            <a:r>
              <a:rPr lang="en-US" sz="6600" dirty="0">
                <a:solidFill>
                  <a:srgbClr val="FFFFFF">
                    <a:alpha val="90000"/>
                  </a:srgbClr>
                </a:solidFill>
              </a:rPr>
              <a:t>prevention</a:t>
            </a:r>
            <a:endParaRPr lang="en-US" sz="6600" b="0" kern="1200" cap="all" dirty="0">
              <a:solidFill>
                <a:srgbClr val="FFFFFF">
                  <a:alpha val="90000"/>
                </a:srgb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cap="all" dirty="0">
                <a:solidFill>
                  <a:srgbClr val="FFFFFF"/>
                </a:solidFill>
              </a:rPr>
              <a:t>identify trends that may impact future performance and perform root cause analysis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30250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D456B-D410-4B9A-B4A8-32858C525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924C7-80D4-2417-6CE7-A3777059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09398"/>
            <a:ext cx="6400798" cy="45861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four golden signals of systems monitoring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967BFE-D591-4422-9648-EC369FB5D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0" y="457201"/>
            <a:ext cx="6400800" cy="94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582E51-231C-453B-87BB-1DBCED8CF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BEFF-919F-D060-7341-527CFA05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808" y="1005841"/>
            <a:ext cx="3749040" cy="45897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cap="all" dirty="0">
                <a:solidFill>
                  <a:srgbClr val="FFFFFF"/>
                </a:solidFill>
              </a:rPr>
              <a:t>latency</a:t>
            </a:r>
          </a:p>
          <a:p>
            <a:r>
              <a:rPr lang="en-US" sz="3200" cap="all" dirty="0">
                <a:solidFill>
                  <a:srgbClr val="FFFFFF"/>
                </a:solidFill>
              </a:rPr>
              <a:t>traffic volume</a:t>
            </a:r>
          </a:p>
          <a:p>
            <a:r>
              <a:rPr lang="en-US" sz="3200" cap="all" dirty="0">
                <a:solidFill>
                  <a:srgbClr val="FFFFFF"/>
                </a:solidFill>
              </a:rPr>
              <a:t>error rate</a:t>
            </a:r>
          </a:p>
          <a:p>
            <a:r>
              <a:rPr lang="en-US" sz="3200" cap="all" dirty="0">
                <a:solidFill>
                  <a:srgbClr val="FFFFFF"/>
                </a:solidFill>
              </a:rPr>
              <a:t>saturation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6F700B-68A4-40BC-B2C6-BD6385C5E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8808" y="455422"/>
            <a:ext cx="3749040" cy="94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25768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0" kern="1200" cap="all" dirty="0">
                <a:solidFill>
                  <a:srgbClr val="FFFFFF">
                    <a:alpha val="90000"/>
                  </a:srgbClr>
                </a:solidFill>
                <a:latin typeface="+mj-lt"/>
                <a:ea typeface="+mj-ea"/>
                <a:cs typeface="+mj-cs"/>
              </a:rPr>
              <a:t>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cap="all" dirty="0">
                <a:solidFill>
                  <a:srgbClr val="FFFFFF"/>
                </a:solidFill>
              </a:rPr>
              <a:t>cost, in time, to transmit, process, and respond to a message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85125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0" kern="1200" cap="all" dirty="0">
                <a:solidFill>
                  <a:srgbClr val="FFFFFF">
                    <a:alpha val="90000"/>
                  </a:srgbClr>
                </a:solidFill>
                <a:latin typeface="+mj-lt"/>
                <a:ea typeface="+mj-ea"/>
                <a:cs typeface="+mj-cs"/>
              </a:rPr>
              <a:t>Traffic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cap="all" dirty="0">
                <a:solidFill>
                  <a:srgbClr val="FFFFFF"/>
                </a:solidFill>
              </a:rPr>
              <a:t>Number of messages transmitted across the network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2197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0" kern="1200" cap="all" dirty="0">
                <a:solidFill>
                  <a:srgbClr val="FFFFFF">
                    <a:alpha val="90000"/>
                  </a:srgbClr>
                </a:solidFill>
                <a:latin typeface="+mj-lt"/>
                <a:ea typeface="+mj-ea"/>
                <a:cs typeface="+mj-cs"/>
              </a:rPr>
              <a:t>Error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cap="all" dirty="0">
                <a:solidFill>
                  <a:srgbClr val="FFFFFF"/>
                </a:solidFill>
              </a:rPr>
              <a:t>number of failed requests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9294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0" kern="1200" cap="all" dirty="0">
                <a:solidFill>
                  <a:srgbClr val="FFFFFF">
                    <a:alpha val="90000"/>
                  </a:srgbClr>
                </a:solidFill>
                <a:latin typeface="+mj-lt"/>
                <a:ea typeface="+mj-ea"/>
                <a:cs typeface="+mj-cs"/>
              </a:rPr>
              <a:t>Saturation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cap="all" dirty="0">
                <a:solidFill>
                  <a:srgbClr val="FFFFFF"/>
                </a:solidFill>
              </a:rPr>
              <a:t>load on infrastructure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85957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1D456B-D410-4B9A-B4A8-32858C525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924C7-80D4-2417-6CE7-A3777059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09398"/>
            <a:ext cx="6400798" cy="45861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Logging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967BFE-D591-4422-9648-EC369FB5D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0" y="457201"/>
            <a:ext cx="6400800" cy="94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582E51-231C-453B-87BB-1DBCED8CF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BEFF-919F-D060-7341-527CFA05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808" y="1005841"/>
            <a:ext cx="3749040" cy="45897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cap="all" dirty="0">
                <a:solidFill>
                  <a:srgbClr val="FFFFFF"/>
                </a:solidFill>
              </a:rPr>
              <a:t>emitting and recording events regarding the behavior of the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6F700B-68A4-40BC-B2C6-BD6385C5E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8808" y="455422"/>
            <a:ext cx="3749040" cy="94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1453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E53A6-80CA-6522-E15C-3F213BD5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What to log?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7680A-274C-CC55-8672-85076285A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3200" dirty="0"/>
              <a:t>Request / Message Metadata</a:t>
            </a:r>
          </a:p>
          <a:p>
            <a:r>
              <a:rPr lang="en-US" sz="3200" dirty="0"/>
              <a:t>Exceptions</a:t>
            </a:r>
          </a:p>
          <a:p>
            <a:r>
              <a:rPr lang="en-US" sz="3200" dirty="0"/>
              <a:t>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3964034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dirty="0">
                <a:solidFill>
                  <a:srgbClr val="FFFFFF">
                    <a:alpha val="90000"/>
                  </a:srgbClr>
                </a:solidFill>
              </a:rPr>
              <a:t>meta data</a:t>
            </a:r>
            <a:endParaRPr lang="en-US" sz="6600" b="0" kern="1200" cap="all" dirty="0">
              <a:solidFill>
                <a:srgbClr val="FFFFFF">
                  <a:alpha val="90000"/>
                </a:srgb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cap="all" dirty="0">
                <a:solidFill>
                  <a:srgbClr val="FFFFFF"/>
                </a:solidFill>
              </a:rPr>
              <a:t>timestamp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size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correlating attributes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operational context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52510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dirty="0">
                <a:solidFill>
                  <a:srgbClr val="FFFFFF">
                    <a:alpha val="90000"/>
                  </a:srgbClr>
                </a:solidFill>
              </a:rPr>
              <a:t>requests &amp; messages</a:t>
            </a:r>
            <a:endParaRPr lang="en-US" sz="6600" b="0" kern="1200" cap="all" dirty="0">
              <a:solidFill>
                <a:srgbClr val="FFFFFF">
                  <a:alpha val="90000"/>
                </a:srgb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cap="all" dirty="0">
                <a:solidFill>
                  <a:srgbClr val="FFFFFF"/>
                </a:solidFill>
              </a:rPr>
              <a:t>correlation id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identifying payload attributes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response (if any)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4640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0" kern="1200" cap="all" dirty="0">
                <a:solidFill>
                  <a:srgbClr val="FFFFFF">
                    <a:alpha val="90000"/>
                  </a:srgbClr>
                </a:solidFill>
                <a:latin typeface="+mj-lt"/>
                <a:ea typeface="+mj-ea"/>
                <a:cs typeface="+mj-cs"/>
              </a:rPr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cap="all" dirty="0">
                <a:solidFill>
                  <a:srgbClr val="FFFFFF"/>
                </a:solidFill>
              </a:rPr>
              <a:t>exception type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exception message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stack trace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exception data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inner exception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88210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31EEE-6D95-A89F-80D1-71F38F4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4" y="1066800"/>
            <a:ext cx="6064997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0" kern="1200" cap="all" dirty="0">
                <a:solidFill>
                  <a:srgbClr val="FFFFFF">
                    <a:alpha val="90000"/>
                  </a:srgbClr>
                </a:solidFill>
                <a:latin typeface="+mj-lt"/>
                <a:ea typeface="+mj-ea"/>
                <a:cs typeface="+mj-cs"/>
              </a:rPr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F7A0-0780-AE28-00DF-B0FAD92E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cap="all" dirty="0">
                <a:solidFill>
                  <a:srgbClr val="FFFFFF"/>
                </a:solidFill>
              </a:rPr>
              <a:t>time to process messages</a:t>
            </a:r>
          </a:p>
          <a:p>
            <a:r>
              <a:rPr lang="en-US" sz="2800" cap="all" dirty="0">
                <a:solidFill>
                  <a:srgbClr val="FFFFFF"/>
                </a:solidFill>
              </a:rPr>
              <a:t>time for downstream requests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20406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52FF1B8-145F-47AA-9F6F-7DA3201AA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DFE8A8C-8C1F-40A1-8A45-9D05B0DD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1EF8C3-8F8A-447D-A5FF-C12426825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511BAF-6DC3-420A-8603-96945C66A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6" name="Graphic 25" descr="Questions">
            <a:extLst>
              <a:ext uri="{FF2B5EF4-FFF2-40B4-BE49-F238E27FC236}">
                <a16:creationId xmlns:a16="http://schemas.microsoft.com/office/drawing/2014/main" id="{FC1163E9-BA07-BBCA-BFD6-0C5483912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7825" y="1271941"/>
            <a:ext cx="4674322" cy="467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3865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542</TotalTime>
  <Words>232</Words>
  <Application>Microsoft Office PowerPoint</Application>
  <PresentationFormat>Widescreen</PresentationFormat>
  <Paragraphs>59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Franklin Gothic Book</vt:lpstr>
      <vt:lpstr>Franklin Gothic Demi</vt:lpstr>
      <vt:lpstr>Wingdings 2</vt:lpstr>
      <vt:lpstr>DividendVTI</vt:lpstr>
      <vt:lpstr>The road to distributed systems</vt:lpstr>
      <vt:lpstr>Agenda</vt:lpstr>
      <vt:lpstr>SRE systems Reliability Engineering</vt:lpstr>
      <vt:lpstr>observability</vt:lpstr>
      <vt:lpstr>incident detection</vt:lpstr>
      <vt:lpstr>incident resolution</vt:lpstr>
      <vt:lpstr>incident prevention</vt:lpstr>
      <vt:lpstr>four golden signals of systems monitoring</vt:lpstr>
      <vt:lpstr>Latency</vt:lpstr>
      <vt:lpstr>Traffic volume</vt:lpstr>
      <vt:lpstr>Error rate</vt:lpstr>
      <vt:lpstr>Saturation</vt:lpstr>
      <vt:lpstr>Logging</vt:lpstr>
      <vt:lpstr>What to log?</vt:lpstr>
      <vt:lpstr>meta data</vt:lpstr>
      <vt:lpstr>requests &amp; messages</vt:lpstr>
      <vt:lpstr>Exceptions</vt:lpstr>
      <vt:lpstr>performance metrics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Lauter, Mark</dc:creator>
  <cp:lastModifiedBy>Lauter, Mark</cp:lastModifiedBy>
  <cp:revision>18</cp:revision>
  <dcterms:created xsi:type="dcterms:W3CDTF">2023-01-11T15:26:05Z</dcterms:created>
  <dcterms:modified xsi:type="dcterms:W3CDTF">2023-03-01T18:10:25Z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